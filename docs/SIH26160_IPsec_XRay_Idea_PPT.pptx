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rfc-editor.org/rfc/rfc4303" TargetMode="External"/><Relationship Id="rId4" Type="http://schemas.openxmlformats.org/officeDocument/2006/relationships/hyperlink" Target="https://www.rfc-editor.org/rfc/rfc7296" TargetMode="External"/><Relationship Id="rId5" Type="http://schemas.openxmlformats.org/officeDocument/2006/relationships/hyperlink" Target="https://www.rfc-editor.org/rfc/rfc8221" TargetMode="External"/><Relationship Id="rId6" Type="http://schemas.openxmlformats.org/officeDocument/2006/relationships/hyperlink" Target="https://www.rfc-editor.org/rfc/rfc8247" TargetMode="External"/><Relationship Id="rId7" Type="http://schemas.openxmlformats.org/officeDocument/2006/relationships/hyperlink" Target="https://www.rfc-editor.org/rfc/rfc9395" TargetMode="External"/><Relationship Id="rId8" Type="http://schemas.openxmlformats.org/officeDocument/2006/relationships/hyperlink" Target="https://csrc.nist.gov/pubs/sp/800/77/r1/final" TargetMode="External"/><Relationship Id="rId9" Type="http://schemas.openxmlformats.org/officeDocument/2006/relationships/hyperlink" Target="https://www.nsa.gov/Press-Room/Cybersecurity-Advisories-Guidance/" TargetMode="External"/><Relationship Id="rId10" Type="http://schemas.openxmlformats.org/officeDocument/2006/relationships/hyperlink" Target="https://weakdh.org" TargetMode="External"/><Relationship Id="rId11" Type="http://schemas.openxmlformats.org/officeDocument/2006/relationships/hyperlink" Target="https://www.usenix.org/conference/usenixsecurity18/presentation/felsch" TargetMode="External"/><Relationship Id="rId12" Type="http://schemas.openxmlformats.org/officeDocument/2006/relationships/hyperlink" Target="https://sweet32.info" TargetMode="External"/><Relationship Id="rId13" Type="http://schemas.openxmlformats.org/officeDocument/2006/relationships/hyperlink" Target="https://www.unb.ca/cic/datasets/vpn.html" TargetMode="External"/><Relationship Id="rId14" Type="http://schemas.openxmlformats.org/officeDocument/2006/relationships/hyperlink" Target="https://arxiv.org/abs/2202.06335" TargetMode="External"/><Relationship Id="rId15" Type="http://schemas.openxmlformats.org/officeDocument/2006/relationships/hyperlink" Target="https://datatracker.ietf.org/doc/draft-ietf-ipsecme-ikev2-mlkem/" TargetMode="External"/><Relationship Id="rId1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2026_hex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097280"/>
            <a:ext cx="4736592" cy="52728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45720"/>
            <a:ext cx="9509760" cy="8229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 i="0">
                <a:solidFill>
                  <a:srgbClr val="1F4E79"/>
                </a:solidFill>
                <a:latin typeface="Times New Roman"/>
              </a:rPr>
              <a:t>SMART INDIA HACKATHON 2026</a:t>
            </a:r>
          </a:p>
        </p:txBody>
      </p:sp>
      <p:pic>
        <p:nvPicPr>
          <p:cNvPr id="4" name="Picture 3" descr="sih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73152"/>
            <a:ext cx="2103120" cy="994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1115568"/>
            <a:ext cx="6400800" cy="5486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4E79"/>
                </a:solidFill>
                <a:latin typeface="Times New Roman"/>
              </a:rPr>
              <a:t>IPSEC X-RAY —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6309360" cy="40233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 marL="256032" indent="-256032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00000"/>
                </a:solidFill>
                <a:latin typeface="Arial"/>
              </a:rPr>
              <a:t>Problem Statement ID – </a:t>
            </a:r>
            <a:r>
              <a:rPr sz="1700" b="1" i="0">
                <a:solidFill>
                  <a:srgbClr val="1F4E79"/>
                </a:solidFill>
                <a:latin typeface="Arial"/>
              </a:rPr>
              <a:t>SIH26160</a:t>
            </a:r>
          </a:p>
          <a:p>
            <a:pPr algn="l" marL="256032" indent="-256032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00000"/>
                </a:solidFill>
                <a:latin typeface="Arial"/>
              </a:rPr>
              <a:t>Problem Statement Title – </a:t>
            </a:r>
            <a:r>
              <a:rPr sz="1700" b="1" i="0">
                <a:solidFill>
                  <a:srgbClr val="1F4E79"/>
                </a:solidFill>
                <a:latin typeface="Arial"/>
              </a:rPr>
              <a:t>AI-Powered IPsec VPN Protocol Analyzer and Security Assessment Framework</a:t>
            </a:r>
          </a:p>
          <a:p>
            <a:pPr algn="l" marL="256032" indent="-256032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00000"/>
                </a:solidFill>
                <a:latin typeface="Arial"/>
              </a:rPr>
              <a:t>Theme – </a:t>
            </a:r>
            <a:r>
              <a:rPr sz="1700" b="1" i="0">
                <a:solidFill>
                  <a:srgbClr val="1F4E79"/>
                </a:solidFill>
                <a:latin typeface="Arial"/>
              </a:rPr>
              <a:t>Blockchain &amp; Cybersecurity</a:t>
            </a:r>
          </a:p>
          <a:p>
            <a:pPr algn="l" marL="256032" indent="-256032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00000"/>
                </a:solidFill>
                <a:latin typeface="Arial"/>
              </a:rPr>
              <a:t>PS Category – </a:t>
            </a:r>
            <a:r>
              <a:rPr sz="1700" b="1" i="0">
                <a:solidFill>
                  <a:srgbClr val="1F4E79"/>
                </a:solidFill>
                <a:latin typeface="Arial"/>
              </a:rPr>
              <a:t>Software</a:t>
            </a:r>
          </a:p>
          <a:p>
            <a:pPr algn="l" marL="256032" indent="-256032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00000"/>
                </a:solidFill>
                <a:latin typeface="Arial"/>
              </a:rPr>
              <a:t>Team ID – </a:t>
            </a:r>
            <a:r>
              <a:rPr sz="1700" b="1" i="0">
                <a:solidFill>
                  <a:srgbClr val="1F4E79"/>
                </a:solidFill>
                <a:latin typeface="Arial"/>
              </a:rPr>
              <a:t>151087</a:t>
            </a:r>
          </a:p>
          <a:p>
            <a:pPr algn="l" marL="256032" indent="-256032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00000"/>
                </a:solidFill>
                <a:latin typeface="Arial"/>
              </a:rPr>
              <a:t>Team Name – </a:t>
            </a:r>
            <a:r>
              <a:rPr sz="1700" b="1" i="0">
                <a:solidFill>
                  <a:srgbClr val="1F4E79"/>
                </a:solidFill>
                <a:latin typeface="Arial"/>
              </a:rPr>
              <a:t>Sudo Spandr  (Registered on portal)</a:t>
            </a:r>
          </a:p>
          <a:p>
            <a:pPr algn="l" marL="256032" indent="-256032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00000"/>
                </a:solidFill>
                <a:latin typeface="Arial"/>
              </a:rPr>
              <a:t>Live URL – </a:t>
            </a:r>
            <a:r>
              <a:rPr sz="1700" b="1" i="0">
                <a:solidFill>
                  <a:srgbClr val="1F4E79"/>
                </a:solidFill>
                <a:latin typeface="Arial"/>
              </a:rPr>
              <a:t>https://sudo-vpn.vercel.app/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33872"/>
            <a:ext cx="6309360" cy="420624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4E79"/>
                </a:solidFill>
                <a:latin typeface="Arial"/>
              </a:rPr>
              <a:t>Idea:  </a:t>
            </a:r>
            <a:r>
              <a:rPr sz="1100" b="0" i="1">
                <a:solidFill>
                  <a:srgbClr val="404040"/>
                </a:solidFill>
                <a:latin typeface="Arial"/>
              </a:rPr>
              <a:t>IPsec X-Ray — check how safe an IPsec VPN is, just from its traffic (Live on Vercel)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1371600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7030A0"/>
                </a:solidFill>
                <a:latin typeface="Arial"/>
              </a:rPr>
              <a:t>Sudo Spandr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82880"/>
            <a:ext cx="8229600" cy="67665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72B4D"/>
                </a:solidFill>
                <a:latin typeface="Times New Roman"/>
              </a:rPr>
              <a:t>IPsec X-Ray — AI-Powered IPsec VPN Protocol Analyzer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6224" y="850392"/>
            <a:ext cx="12801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37360" y="914400"/>
            <a:ext cx="8229600" cy="31089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616161"/>
                </a:solidFill>
                <a:latin typeface="Arial"/>
              </a:rPr>
              <a:t>PROPOSED SOLUTION  •  the idea  •  how it solves the problem  •  what is new</a:t>
            </a:r>
          </a:p>
        </p:txBody>
      </p:sp>
      <p:pic>
        <p:nvPicPr>
          <p:cNvPr id="6" name="Picture 5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91440"/>
            <a:ext cx="2103120" cy="9942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19088"/>
            <a:ext cx="411480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SUDO SPANDR  •  TEAM ID 151087  •  PS SIH26160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19088"/>
            <a:ext cx="4876495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36192"/>
            <a:ext cx="10515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54380" y="1627632"/>
            <a:ext cx="365760" cy="12801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37843" y="1673352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54380" y="1783080"/>
            <a:ext cx="365760" cy="12801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037843" y="1828800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4380" y="1938528"/>
            <a:ext cx="365760" cy="12801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037843" y="1984248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11480" y="2103120"/>
            <a:ext cx="1051560" cy="36576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Arial"/>
              </a:rPr>
              <a:t>Office 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Arial"/>
              </a:rPr>
              <a:t>VPN gateway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1536192"/>
            <a:ext cx="10515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234940" y="1627632"/>
            <a:ext cx="365760" cy="12801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518404" y="1673352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234940" y="1783080"/>
            <a:ext cx="365760" cy="12801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518404" y="1828800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234940" y="1938528"/>
            <a:ext cx="365760" cy="12801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518404" y="1984248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92040" y="2103120"/>
            <a:ext cx="1051560" cy="36576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4E79"/>
                </a:solidFill>
                <a:latin typeface="Arial"/>
              </a:rPr>
              <a:t>Office 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Arial"/>
              </a:rPr>
              <a:t>VPN gateway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1783080"/>
            <a:ext cx="34290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618488" y="1856231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9" name="Block Arc 28"/>
          <p:cNvSpPr/>
          <p:nvPr/>
        </p:nvSpPr>
        <p:spPr>
          <a:xfrm>
            <a:off x="1703527" y="1892807"/>
            <a:ext cx="76809" cy="82296"/>
          </a:xfrm>
          <a:prstGeom prst="blockArc">
            <a:avLst>
              <a:gd name="adj1" fmla="val 10800000"/>
              <a:gd name="adj2" fmla="val 0"/>
              <a:gd name="adj3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684324" y="1947672"/>
            <a:ext cx="115214" cy="82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730959" y="1972360"/>
            <a:ext cx="21945" cy="2194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2338578" y="1856231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3" name="Block Arc 32"/>
          <p:cNvSpPr/>
          <p:nvPr/>
        </p:nvSpPr>
        <p:spPr>
          <a:xfrm>
            <a:off x="2423617" y="1892807"/>
            <a:ext cx="76809" cy="82296"/>
          </a:xfrm>
          <a:prstGeom prst="blockArc">
            <a:avLst>
              <a:gd name="adj1" fmla="val 10800000"/>
              <a:gd name="adj2" fmla="val 0"/>
              <a:gd name="adj3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404414" y="1947672"/>
            <a:ext cx="115214" cy="82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2451049" y="1972360"/>
            <a:ext cx="21945" cy="2194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058668" y="1856231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7" name="Block Arc 36"/>
          <p:cNvSpPr/>
          <p:nvPr/>
        </p:nvSpPr>
        <p:spPr>
          <a:xfrm>
            <a:off x="3143707" y="1892807"/>
            <a:ext cx="76809" cy="82296"/>
          </a:xfrm>
          <a:prstGeom prst="blockArc">
            <a:avLst>
              <a:gd name="adj1" fmla="val 10800000"/>
              <a:gd name="adj2" fmla="val 0"/>
              <a:gd name="adj3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124504" y="1947672"/>
            <a:ext cx="115214" cy="82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171139" y="1972360"/>
            <a:ext cx="21945" cy="2194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778758" y="1856231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1" name="Block Arc 40"/>
          <p:cNvSpPr/>
          <p:nvPr/>
        </p:nvSpPr>
        <p:spPr>
          <a:xfrm>
            <a:off x="3863797" y="1892807"/>
            <a:ext cx="76809" cy="82296"/>
          </a:xfrm>
          <a:prstGeom prst="blockArc">
            <a:avLst>
              <a:gd name="adj1" fmla="val 10800000"/>
              <a:gd name="adj2" fmla="val 0"/>
              <a:gd name="adj3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844594" y="1947672"/>
            <a:ext cx="115214" cy="82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3891229" y="1972360"/>
            <a:ext cx="21945" cy="2194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4498848" y="1856231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5" name="Block Arc 44"/>
          <p:cNvSpPr/>
          <p:nvPr/>
        </p:nvSpPr>
        <p:spPr>
          <a:xfrm>
            <a:off x="4583887" y="1892807"/>
            <a:ext cx="76809" cy="82296"/>
          </a:xfrm>
          <a:prstGeom prst="blockArc">
            <a:avLst>
              <a:gd name="adj1" fmla="val 10800000"/>
              <a:gd name="adj2" fmla="val 0"/>
              <a:gd name="adj3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4564684" y="1947672"/>
            <a:ext cx="115214" cy="82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4611319" y="1972360"/>
            <a:ext cx="21945" cy="2194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463040" y="1563624"/>
            <a:ext cx="342900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Encrypted IPsec tunnel  (IKE / ESP / AH)</a:t>
            </a:r>
          </a:p>
        </p:txBody>
      </p:sp>
      <p:sp>
        <p:nvSpPr>
          <p:cNvPr id="49" name="Oval 48"/>
          <p:cNvSpPr/>
          <p:nvPr/>
        </p:nvSpPr>
        <p:spPr>
          <a:xfrm>
            <a:off x="3104388" y="2093976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0" name="Oval 49"/>
          <p:cNvSpPr/>
          <p:nvPr/>
        </p:nvSpPr>
        <p:spPr>
          <a:xfrm>
            <a:off x="3148279" y="2137867"/>
            <a:ext cx="58521" cy="58521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287268" y="2148840"/>
            <a:ext cx="1188720" cy="182880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C62828"/>
                </a:solidFill>
                <a:latin typeface="Arial"/>
              </a:rPr>
              <a:t>copy of traffic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6110" y="2258568"/>
            <a:ext cx="22860" cy="5486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3166110" y="2359152"/>
            <a:ext cx="22860" cy="5486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3166110" y="2459736"/>
            <a:ext cx="22860" cy="5486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166110" y="2560320"/>
            <a:ext cx="22860" cy="1828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2148840" y="2606039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2304653" y="2728203"/>
            <a:ext cx="291876" cy="2304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2327696" y="2751246"/>
            <a:ext cx="245790" cy="176662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2258568" y="2973994"/>
            <a:ext cx="384048" cy="5376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697480" y="2606039"/>
            <a:ext cx="1463040" cy="54864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IPsec X-Ray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DEEBF7"/>
                </a:solidFill>
                <a:latin typeface="Arial"/>
              </a:rPr>
              <a:t>only listens — never touches the tunnel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66110" y="3154679"/>
            <a:ext cx="22860" cy="118871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280160" y="3262121"/>
            <a:ext cx="3794760" cy="228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63" name="Down Arrow 62"/>
          <p:cNvSpPr/>
          <p:nvPr/>
        </p:nvSpPr>
        <p:spPr>
          <a:xfrm>
            <a:off x="1207007" y="3273551"/>
            <a:ext cx="146304" cy="91440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11480" y="3364991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65" name="Block Arc 64"/>
          <p:cNvSpPr/>
          <p:nvPr/>
        </p:nvSpPr>
        <p:spPr>
          <a:xfrm>
            <a:off x="484632" y="3482766"/>
            <a:ext cx="329184" cy="329184"/>
          </a:xfrm>
          <a:prstGeom prst="blockArc">
            <a:avLst>
              <a:gd name="adj1" fmla="val 10800000"/>
              <a:gd name="adj2" fmla="val 0"/>
              <a:gd name="adj3" fmla="val 3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 rot="19500000">
            <a:off x="599697" y="3521603"/>
            <a:ext cx="19751" cy="138257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626181" y="3624315"/>
            <a:ext cx="46085" cy="46085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68680" y="3364991"/>
            <a:ext cx="1280160" cy="50292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Security score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Arial"/>
              </a:rPr>
              <a:t>0–100, grade A+ → F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3104388" y="3273551"/>
            <a:ext cx="146304" cy="91440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308860" y="3364991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2382012" y="3456432"/>
            <a:ext cx="96560" cy="96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498323" y="3456432"/>
            <a:ext cx="96560" cy="96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2614635" y="3456432"/>
            <a:ext cx="96560" cy="96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2382012" y="3572743"/>
            <a:ext cx="96560" cy="96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498323" y="3572743"/>
            <a:ext cx="96560" cy="96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614635" y="3572743"/>
            <a:ext cx="96560" cy="96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2382012" y="3689055"/>
            <a:ext cx="96560" cy="96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2498323" y="3689055"/>
            <a:ext cx="96560" cy="96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2614635" y="3689055"/>
            <a:ext cx="96560" cy="96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2766060" y="3364991"/>
            <a:ext cx="1280160" cy="50292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Risk score + threat matrix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Arial"/>
              </a:rPr>
              <a:t>what can go wrong</a:t>
            </a:r>
          </a:p>
        </p:txBody>
      </p:sp>
      <p:sp>
        <p:nvSpPr>
          <p:cNvPr id="81" name="Down Arrow 80"/>
          <p:cNvSpPr/>
          <p:nvPr/>
        </p:nvSpPr>
        <p:spPr>
          <a:xfrm>
            <a:off x="5001768" y="3273551"/>
            <a:ext cx="146304" cy="91440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206240" y="3364991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3" name="Folded Corner 82"/>
          <p:cNvSpPr/>
          <p:nvPr/>
        </p:nvSpPr>
        <p:spPr>
          <a:xfrm>
            <a:off x="4318894" y="3456432"/>
            <a:ext cx="250179" cy="329184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0F5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4364979" y="3555187"/>
            <a:ext cx="158008" cy="19751"/>
          </a:xfrm>
          <a:prstGeom prst="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4364979" y="3614440"/>
            <a:ext cx="125089" cy="19751"/>
          </a:xfrm>
          <a:prstGeom prst="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4364979" y="3673693"/>
            <a:ext cx="92171" cy="19751"/>
          </a:xfrm>
          <a:prstGeom prst="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4663440" y="3364991"/>
            <a:ext cx="1280160" cy="50292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Report + dashboard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Arial"/>
              </a:rPr>
              <a:t>for managers &amp; engineers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5760" y="3968496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WHAT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280160" y="3968496"/>
            <a:ext cx="4709160" cy="6583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371600" y="3968496"/>
            <a:ext cx="4572000" cy="65836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404040"/>
                </a:solidFill>
                <a:latin typeface="Arial"/>
              </a:rPr>
              <a:t>A tool that listens to VPN traffic (IKE / ESP / AH) and tells how safe the tunnel is — no keys, no software on the routers.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65760" y="4700016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280160" y="4700016"/>
            <a:ext cx="4709160" cy="6583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1371600" y="4700016"/>
            <a:ext cx="4572000" cy="65836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404040"/>
                </a:solidFill>
                <a:latin typeface="Arial"/>
              </a:rPr>
              <a:t>It reads the open parts of the traffic, and uses AI on packet sizes and timing to find the hidden parts: cipher framing, mode, and traffic type inside (call, chat, mail, web, video); PFS observed on rekey or marked Unknown.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5760" y="5431536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280160" y="5431536"/>
            <a:ext cx="4709160" cy="6583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371600" y="5431536"/>
            <a:ext cx="4572000" cy="65836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404040"/>
                </a:solidFill>
                <a:latin typeface="Arial"/>
              </a:rPr>
              <a:t>Old, breakable settings (IKEv1, 1024-bit DH, no PFS) are still common — and today nobody can see what a tunnel really uses without logging into every device.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09360" y="1371600"/>
            <a:ext cx="1463040" cy="3520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6309360" y="1371600"/>
            <a:ext cx="1463040" cy="329184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6309360" y="1536192"/>
            <a:ext cx="1463040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6309360" y="1371600"/>
            <a:ext cx="1463040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01" name="Isosceles Triangle 100"/>
          <p:cNvSpPr/>
          <p:nvPr/>
        </p:nvSpPr>
        <p:spPr>
          <a:xfrm>
            <a:off x="6867144" y="1892807"/>
            <a:ext cx="347472" cy="301752"/>
          </a:xfrm>
          <a:prstGeom prst="triangle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6986016" y="1837943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6812280" y="2139696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7159752" y="2139696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355080" y="2359152"/>
            <a:ext cx="1371600" cy="548640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traffic file (PCAP) or live traffic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537960" y="294436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IKE v1 / v2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537960" y="3273551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ESP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537960" y="3602735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AH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537960" y="39319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NAT-T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537960" y="426110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IPv4 / IPv6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09360" y="4599431"/>
            <a:ext cx="146304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616161"/>
                </a:solidFill>
                <a:latin typeface="Arial"/>
              </a:rPr>
              <a:t>from the PS testbed</a:t>
            </a:r>
          </a:p>
        </p:txBody>
      </p:sp>
      <p:sp>
        <p:nvSpPr>
          <p:cNvPr id="112" name="Right Arrow 111"/>
          <p:cNvSpPr/>
          <p:nvPr/>
        </p:nvSpPr>
        <p:spPr>
          <a:xfrm>
            <a:off x="7827264" y="2967227"/>
            <a:ext cx="274320" cy="329184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156448" y="1371600"/>
            <a:ext cx="1874519" cy="3520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0F5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14" name="Rounded Rectangle 113"/>
          <p:cNvSpPr/>
          <p:nvPr/>
        </p:nvSpPr>
        <p:spPr>
          <a:xfrm>
            <a:off x="8156448" y="1371600"/>
            <a:ext cx="1874519" cy="329184"/>
          </a:xfrm>
          <a:prstGeom prst="roundRect">
            <a:avLst>
              <a:gd name="adj" fmla="val 8000"/>
            </a:avLst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8156448" y="1536192"/>
            <a:ext cx="1874519" cy="164592"/>
          </a:xfrm>
          <a:prstGeom prst="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8156448" y="1371600"/>
            <a:ext cx="1874519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IPsec X-RAY ENGINE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266175" y="1828800"/>
            <a:ext cx="1655063" cy="896112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95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7030A0"/>
                </a:solidFill>
                <a:latin typeface="Arial"/>
              </a:rPr>
              <a:t>1  IDENTIFY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which protocol, IKE version, mode, ciphers, key exchange, SA settings, and what traffic is inside ESP</a:t>
            </a:r>
          </a:p>
        </p:txBody>
      </p:sp>
      <p:sp>
        <p:nvSpPr>
          <p:cNvPr id="118" name="Down Arrow 117"/>
          <p:cNvSpPr/>
          <p:nvPr/>
        </p:nvSpPr>
        <p:spPr>
          <a:xfrm>
            <a:off x="9002268" y="2734056"/>
            <a:ext cx="182880" cy="9144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8266175" y="2834640"/>
            <a:ext cx="1655063" cy="896112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6C00"/>
                </a:solidFill>
                <a:latin typeface="Arial"/>
              </a:rPr>
              <a:t>2  ASSESS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checks: 25 live today, 66 by Dec · cipher strength · lifetimes · replay · PFS · metadata leaks</a:t>
            </a:r>
          </a:p>
        </p:txBody>
      </p:sp>
      <p:sp>
        <p:nvSpPr>
          <p:cNvPr id="120" name="Down Arrow 119"/>
          <p:cNvSpPr/>
          <p:nvPr/>
        </p:nvSpPr>
        <p:spPr>
          <a:xfrm>
            <a:off x="9002268" y="3739896"/>
            <a:ext cx="182880" cy="9144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8266175" y="3840480"/>
            <a:ext cx="1655063" cy="896112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2E7D32"/>
                </a:solidFill>
                <a:latin typeface="Arial"/>
              </a:rPr>
              <a:t>3  SCORE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0–100 with grade A+ → F · risk score · threat matrix · confidence for every finding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10085832" y="2967227"/>
            <a:ext cx="274320" cy="329184"/>
          </a:xfrm>
          <a:prstGeom prst="rightArrow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0360152" y="1371600"/>
            <a:ext cx="1481328" cy="3520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24" name="Rounded Rectangle 123"/>
          <p:cNvSpPr/>
          <p:nvPr/>
        </p:nvSpPr>
        <p:spPr>
          <a:xfrm>
            <a:off x="10360152" y="1371600"/>
            <a:ext cx="1481328" cy="32918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10360152" y="1536192"/>
            <a:ext cx="1481328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0360152" y="1371600"/>
            <a:ext cx="1481328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OUTPUTS</a:t>
            </a:r>
          </a:p>
        </p:txBody>
      </p:sp>
      <p:sp>
        <p:nvSpPr>
          <p:cNvPr id="127" name="Block Arc 126"/>
          <p:cNvSpPr/>
          <p:nvPr/>
        </p:nvSpPr>
        <p:spPr>
          <a:xfrm>
            <a:off x="10488168" y="1855134"/>
            <a:ext cx="329184" cy="329184"/>
          </a:xfrm>
          <a:prstGeom prst="blockArc">
            <a:avLst>
              <a:gd name="adj1" fmla="val 10800000"/>
              <a:gd name="adj2" fmla="val 0"/>
              <a:gd name="adj3" fmla="val 3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ounded Rectangle 127"/>
          <p:cNvSpPr/>
          <p:nvPr/>
        </p:nvSpPr>
        <p:spPr>
          <a:xfrm rot="19500000">
            <a:off x="10603233" y="1893971"/>
            <a:ext cx="19751" cy="138257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10629717" y="1996683"/>
            <a:ext cx="46085" cy="46085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10863072" y="1810512"/>
            <a:ext cx="950976" cy="38404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72B4D"/>
                </a:solidFill>
                <a:latin typeface="Arial"/>
              </a:rPr>
              <a:t>Security score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488168" y="2545689"/>
            <a:ext cx="58782" cy="11521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10570464" y="2474366"/>
            <a:ext cx="58782" cy="186537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10652760" y="2403043"/>
            <a:ext cx="58782" cy="2578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10735056" y="2331720"/>
            <a:ext cx="58782" cy="3291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10863072" y="2313432"/>
            <a:ext cx="950976" cy="38404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72B4D"/>
                </a:solidFill>
                <a:latin typeface="Arial"/>
              </a:rPr>
              <a:t>Risk score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488168" y="2834640"/>
            <a:ext cx="96560" cy="96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10604479" y="2834640"/>
            <a:ext cx="96560" cy="96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10720791" y="2834640"/>
            <a:ext cx="96560" cy="96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10488168" y="2950951"/>
            <a:ext cx="96560" cy="96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10604479" y="2950951"/>
            <a:ext cx="96560" cy="96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10720791" y="2950951"/>
            <a:ext cx="96560" cy="96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10488168" y="3067263"/>
            <a:ext cx="96560" cy="96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10604479" y="3067263"/>
            <a:ext cx="96560" cy="96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10720791" y="3067263"/>
            <a:ext cx="96560" cy="96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10863072" y="2816352"/>
            <a:ext cx="950976" cy="38404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72B4D"/>
                </a:solidFill>
                <a:latin typeface="Arial"/>
              </a:rPr>
              <a:t>Threat matrix</a:t>
            </a:r>
          </a:p>
        </p:txBody>
      </p:sp>
      <p:sp>
        <p:nvSpPr>
          <p:cNvPr id="146" name="Oval 145"/>
          <p:cNvSpPr/>
          <p:nvPr/>
        </p:nvSpPr>
        <p:spPr>
          <a:xfrm>
            <a:off x="10488168" y="3337560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92" b="1">
                <a:solidFill>
                  <a:srgbClr val="FFFFFF"/>
                </a:solidFill>
                <a:latin typeface="Arial"/>
              </a:rPr>
              <a:t>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863072" y="3319272"/>
            <a:ext cx="950976" cy="38404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72B4D"/>
                </a:solidFill>
                <a:latin typeface="Arial"/>
              </a:rPr>
              <a:t>AI confidence</a:t>
            </a:r>
          </a:p>
        </p:txBody>
      </p:sp>
      <p:sp>
        <p:nvSpPr>
          <p:cNvPr id="148" name="Folded Corner 147"/>
          <p:cNvSpPr/>
          <p:nvPr/>
        </p:nvSpPr>
        <p:spPr>
          <a:xfrm>
            <a:off x="10527670" y="3840479"/>
            <a:ext cx="250179" cy="329184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10573755" y="3939235"/>
            <a:ext cx="158008" cy="197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10573755" y="3998488"/>
            <a:ext cx="125089" cy="197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10573755" y="4057741"/>
            <a:ext cx="92171" cy="197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10863072" y="3822191"/>
            <a:ext cx="950976" cy="38404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72B4D"/>
                </a:solidFill>
                <a:latin typeface="Arial"/>
              </a:rPr>
              <a:t>Report (2 levels)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527670" y="4369734"/>
            <a:ext cx="250179" cy="19751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10547421" y="4389485"/>
            <a:ext cx="210677" cy="1514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ounded Rectangle 154"/>
          <p:cNvSpPr/>
          <p:nvPr/>
        </p:nvSpPr>
        <p:spPr>
          <a:xfrm>
            <a:off x="10488168" y="4580412"/>
            <a:ext cx="329184" cy="46085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10863072" y="4325112"/>
            <a:ext cx="950976" cy="38404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72B4D"/>
                </a:solidFill>
                <a:latin typeface="Arial"/>
              </a:rPr>
              <a:t>Dashboard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309360" y="5029200"/>
            <a:ext cx="553212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2E7D32"/>
                </a:solidFill>
                <a:latin typeface="Arial"/>
              </a:rPr>
              <a:t>PASSIVE  •  NO KEYS  •  NO AGENTS  •  NO ROUTER ACCESS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309360" y="5440680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59" name="Rounded Rectangle 158"/>
          <p:cNvSpPr/>
          <p:nvPr/>
        </p:nvSpPr>
        <p:spPr>
          <a:xfrm>
            <a:off x="6419088" y="5330952"/>
            <a:ext cx="1124712" cy="256032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WHAT IS NEW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00800" y="5577840"/>
            <a:ext cx="5394960" cy="640080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930" b="1" i="0">
                <a:solidFill>
                  <a:srgbClr val="172B4D"/>
                </a:solidFill>
                <a:latin typeface="Arial"/>
              </a:rPr>
              <a:t>Sees inside ESP without decrypting it — </a:t>
            </a:r>
            <a:r>
              <a:rPr sz="930" b="0" i="0">
                <a:solidFill>
                  <a:srgbClr val="404040"/>
                </a:solidFill>
                <a:latin typeface="Arial"/>
              </a:rPr>
              <a:t>packet sizes + AI reveal the cipher, mode, PFS and traffic type.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930" b="1" i="0">
                <a:solidFill>
                  <a:srgbClr val="172B4D"/>
                </a:solidFill>
                <a:latin typeface="Arial"/>
              </a:rPr>
              <a:t>Never guesses — </a:t>
            </a:r>
            <a:r>
              <a:rPr sz="930" b="0" i="0">
                <a:solidFill>
                  <a:srgbClr val="404040"/>
                </a:solidFill>
                <a:latin typeface="Arial"/>
              </a:rPr>
              <a:t>every result is marked Observed / Inferred / Unknown with a confidence %, and names the standard it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1371600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7030A0"/>
                </a:solidFill>
                <a:latin typeface="Arial"/>
              </a:rPr>
              <a:t>Sudo Spandr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82880"/>
            <a:ext cx="8229600" cy="67665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72B4D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6224" y="850392"/>
            <a:ext cx="12801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37360" y="914400"/>
            <a:ext cx="8229600" cy="31089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616161"/>
                </a:solidFill>
                <a:latin typeface="Arial"/>
              </a:rPr>
              <a:t>Technologies used  •  Step-by-step process  •  Working prototype</a:t>
            </a:r>
          </a:p>
        </p:txBody>
      </p:sp>
      <p:pic>
        <p:nvPicPr>
          <p:cNvPr id="6" name="Picture 5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91440"/>
            <a:ext cx="2103120" cy="9942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19088"/>
            <a:ext cx="411480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SUDO SPANDR  •  TEAM ID 151087  •  PS SIH26160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19088"/>
            <a:ext cx="4876495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4630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11480" y="1463040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627632"/>
            <a:ext cx="2103120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11480" y="1463040"/>
            <a:ext cx="2103120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1   TESTBED</a:t>
            </a:r>
          </a:p>
        </p:txBody>
      </p:sp>
      <p:sp>
        <p:nvSpPr>
          <p:cNvPr id="15" name="Merge 14"/>
          <p:cNvSpPr/>
          <p:nvPr/>
        </p:nvSpPr>
        <p:spPr>
          <a:xfrm>
            <a:off x="539496" y="2029968"/>
            <a:ext cx="292608" cy="256031"/>
          </a:xfrm>
          <a:prstGeom prst="flowChartMerg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6539" y="1920240"/>
            <a:ext cx="58521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1847088"/>
            <a:ext cx="1554479" cy="1362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1F4E79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Real VPN tunnels built in our lab (strongSwan / Libreswan)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1F4E79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all PS settings: both modes · AES-128/256 GCM &amp; CBC · DH 14/19/20 (+ML-KEM) · PFS on/off · IPv4/IPv6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1F4E79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8 traffic types; lab saves keys only as ground-truth answer key to score our models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23744" y="2217420"/>
            <a:ext cx="201168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34056" y="14630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2700">
            <a:solidFill>
              <a:srgbClr val="0F5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734056" y="1463040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734056" y="1627632"/>
            <a:ext cx="2103120" cy="164592"/>
          </a:xfrm>
          <a:prstGeom prst="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734056" y="1463040"/>
            <a:ext cx="2103120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2   CAPTURE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2869387" y="1971446"/>
            <a:ext cx="277977" cy="241401"/>
          </a:xfrm>
          <a:prstGeom prst="triangle">
            <a:avLst/>
          </a:prstGeom>
          <a:noFill/>
          <a:ln w="19050">
            <a:solidFill>
              <a:srgbClr val="0F5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2964484" y="1927555"/>
            <a:ext cx="87782" cy="8778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825496" y="2168956"/>
            <a:ext cx="87782" cy="87782"/>
          </a:xfrm>
          <a:prstGeom prst="ellipse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3103473" y="2168956"/>
            <a:ext cx="87782" cy="87782"/>
          </a:xfrm>
          <a:prstGeom prst="ellipse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236976" y="1847088"/>
            <a:ext cx="1554479" cy="1362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0F5FA6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Record the traffic (tshark / Scapy): IKE, ESP, AH, NAT-T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0F5FA6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from a file (PCAP) or live interface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0F5FA6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Tool is 100% passive: uses NO keys, NO router access, NO decryption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846320" y="2217420"/>
            <a:ext cx="201168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56632" y="14630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8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056632" y="1463040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056632" y="1627632"/>
            <a:ext cx="2103120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56632" y="1463040"/>
            <a:ext cx="2103120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3   PARSE</a:t>
            </a:r>
          </a:p>
        </p:txBody>
      </p:sp>
      <p:sp>
        <p:nvSpPr>
          <p:cNvPr id="33" name="Gear 6 32"/>
          <p:cNvSpPr/>
          <p:nvPr/>
        </p:nvSpPr>
        <p:spPr>
          <a:xfrm>
            <a:off x="5148072" y="1920240"/>
            <a:ext cx="365760" cy="365760"/>
          </a:xfrm>
          <a:prstGeom prst="gear6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5279745" y="2051913"/>
            <a:ext cx="102412" cy="1024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559552" y="1847088"/>
            <a:ext cx="1554479" cy="1362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00838F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Read the open fields: IKE messages, proposals, SPIs, lifetimes, sequence numbers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00838F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→ exact table of what the tunnel negotiated (Observed)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168896" y="2217420"/>
            <a:ext cx="201168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79208" y="14630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7379208" y="1463040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379208" y="1627632"/>
            <a:ext cx="2103120" cy="164592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79208" y="1463040"/>
            <a:ext cx="2103120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4   AI IDENTIFY</a:t>
            </a:r>
          </a:p>
        </p:txBody>
      </p:sp>
      <p:sp>
        <p:nvSpPr>
          <p:cNvPr id="41" name="Oval 40"/>
          <p:cNvSpPr/>
          <p:nvPr/>
        </p:nvSpPr>
        <p:spPr>
          <a:xfrm>
            <a:off x="7488936" y="1938528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 rot="18900000">
            <a:off x="7697419" y="2132380"/>
            <a:ext cx="43891" cy="146304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82128" y="1847088"/>
            <a:ext cx="1554479" cy="1362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7030A0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ESP length physics + Calibrated Random Forests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7030A0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→ cipher framing (86.1%) · mode (95.7%) · traffic type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7030A0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honest metric: 0 real flows in v1, fully transparent in meta.json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491472" y="2217420"/>
            <a:ext cx="201168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01784" y="14630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9701784" y="1463040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9701784" y="1627632"/>
            <a:ext cx="2103120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701784" y="1463040"/>
            <a:ext cx="2103120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5   ASSESS &amp; REPORT</a:t>
            </a:r>
          </a:p>
        </p:txBody>
      </p:sp>
      <p:sp>
        <p:nvSpPr>
          <p:cNvPr id="49" name="Block Arc 48"/>
          <p:cNvSpPr/>
          <p:nvPr/>
        </p:nvSpPr>
        <p:spPr>
          <a:xfrm>
            <a:off x="9793224" y="1949500"/>
            <a:ext cx="365760" cy="365760"/>
          </a:xfrm>
          <a:prstGeom prst="blockArc">
            <a:avLst>
              <a:gd name="adj1" fmla="val 10800000"/>
              <a:gd name="adj2" fmla="val 0"/>
              <a:gd name="adj3" fmla="val 3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 rot="19500000">
            <a:off x="9921075" y="1992652"/>
            <a:ext cx="21945" cy="153619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9950500" y="2106777"/>
            <a:ext cx="51206" cy="5120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204704" y="1847088"/>
            <a:ext cx="1554479" cy="1362456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2E7D32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25 live checks (66 by Dec) → score, risk, threat matrix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2E7D32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web dashboard (FastAPI + React)</a:t>
            </a:r>
          </a:p>
          <a:p>
            <a:pPr algn="l" marL="146304" indent="-146304">
              <a:lnSpc>
                <a:spcPct val="100000"/>
              </a:lnSpc>
              <a:spcAft>
                <a:spcPts val="300"/>
              </a:spcAft>
              <a:buClr>
                <a:srgbClr val="2E7D32"/>
              </a:buClr>
              <a:buFont typeface="Arial"/>
              <a:buChar char="•"/>
            </a:pPr>
            <a:r>
              <a:rPr sz="860" b="0" i="0">
                <a:solidFill>
                  <a:srgbClr val="404040"/>
                </a:solidFill>
                <a:latin typeface="Arial"/>
              </a:rPr>
              <a:t>PDF report: 1 page for managers + details for engineers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337560"/>
            <a:ext cx="6748271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11480" y="3392424"/>
            <a:ext cx="6748271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2E7D32"/>
                </a:solidFill>
                <a:latin typeface="Arial"/>
              </a:rPr>
              <a:t>OBSERVED — read directly from the open IKE / ESP headers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79208" y="3337560"/>
            <a:ext cx="2103120" cy="4572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379208" y="3392424"/>
            <a:ext cx="210312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EF6C00"/>
                </a:solidFill>
                <a:latin typeface="Arial"/>
              </a:rPr>
              <a:t>INFERRED — AI + confidence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01784" y="3337560"/>
            <a:ext cx="210312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701784" y="3392424"/>
            <a:ext cx="210312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2E7D32"/>
                </a:solidFill>
                <a:latin typeface="Arial"/>
              </a:rPr>
              <a:t>SCORED — against the standards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" y="3794760"/>
            <a:ext cx="672084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521207" y="3685032"/>
            <a:ext cx="3182111" cy="256032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HOW THE AI SEES INSIDE AN ESP PACKET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" y="4069080"/>
            <a:ext cx="1325880" cy="329184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ESP header  (SPI · Seq)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0" y="4069080"/>
            <a:ext cx="502920" cy="329184"/>
          </a:xfrm>
          <a:prstGeom prst="rect">
            <a:avLst/>
          </a:prstGeom>
          <a:solidFill>
            <a:srgbClr val="0F5F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IV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14600" y="4069080"/>
            <a:ext cx="3246120" cy="329184"/>
          </a:xfrm>
          <a:prstGeom prst="rect">
            <a:avLst/>
          </a:prstGeom>
          <a:solidFill>
            <a:srgbClr val="61616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encrypted data  +  padding  +  pad-len  +  next-header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4069080"/>
            <a:ext cx="731520" cy="329184"/>
          </a:xfrm>
          <a:prstGeom prst="rect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ICV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1275588" y="4416552"/>
            <a:ext cx="146304" cy="128016"/>
          </a:xfrm>
          <a:prstGeom prst="down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4553712"/>
            <a:ext cx="1325880" cy="64008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E7D32"/>
                </a:solidFill>
                <a:latin typeface="Arial"/>
              </a:rPr>
              <a:t>Observed:  </a:t>
            </a:r>
            <a:r>
              <a:rPr sz="800" b="0" i="0">
                <a:solidFill>
                  <a:srgbClr val="404040"/>
                </a:solidFill>
                <a:latin typeface="Arial"/>
              </a:rPr>
              <a:t>SPI &amp; sequence numbers → replay window, re-keys, lifetimes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3813048" y="4416552"/>
            <a:ext cx="146304" cy="128016"/>
          </a:xfrm>
          <a:prstGeom prst="downArrow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0" y="4553712"/>
            <a:ext cx="3749039" cy="64008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F6C00"/>
                </a:solidFill>
                <a:latin typeface="Arial"/>
              </a:rPr>
              <a:t>Inferred:  </a:t>
            </a:r>
            <a:r>
              <a:rPr sz="800" b="0" i="0">
                <a:solidFill>
                  <a:srgbClr val="404040"/>
                </a:solidFill>
                <a:latin typeface="Arial"/>
              </a:rPr>
              <a:t>packet-length pattern → cipher family  ·  ICV size → integrity algorithm  ·  re-key size → DH group / PFS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6327648" y="4416552"/>
            <a:ext cx="146304" cy="128016"/>
          </a:xfrm>
          <a:prstGeom prst="downArrow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0" y="4553712"/>
            <a:ext cx="1280160" cy="64008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F6C00"/>
                </a:solidFill>
                <a:latin typeface="Arial"/>
              </a:rPr>
              <a:t>Inferred:  </a:t>
            </a:r>
            <a:r>
              <a:rPr sz="800" b="0" i="0">
                <a:solidFill>
                  <a:srgbClr val="404040"/>
                </a:solidFill>
                <a:latin typeface="Arial"/>
              </a:rPr>
              <a:t>size &amp; timing pattern → what traffic is inside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0" y="3794760"/>
            <a:ext cx="448056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7424927" y="3685032"/>
            <a:ext cx="1042415" cy="2560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TECH STACK</a:t>
            </a:r>
          </a:p>
        </p:txBody>
      </p:sp>
      <p:pic>
        <p:nvPicPr>
          <p:cNvPr id="73" name="Picture 72" descr="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041648"/>
            <a:ext cx="363182" cy="402335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269479" y="4462272"/>
            <a:ext cx="820382" cy="182880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404040"/>
                </a:solidFill>
                <a:latin typeface="Arial"/>
              </a:rPr>
              <a:t>Python</a:t>
            </a:r>
          </a:p>
        </p:txBody>
      </p:sp>
      <p:pic>
        <p:nvPicPr>
          <p:cNvPr id="75" name="Picture 74" descr="sca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006" y="4041648"/>
            <a:ext cx="36772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870406" y="4462272"/>
            <a:ext cx="824926" cy="182880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404040"/>
                </a:solidFill>
                <a:latin typeface="Arial"/>
              </a:rPr>
              <a:t>Scapy</a:t>
            </a:r>
          </a:p>
        </p:txBody>
      </p:sp>
      <p:pic>
        <p:nvPicPr>
          <p:cNvPr id="77" name="Picture 76" descr="pyto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476" y="4041648"/>
            <a:ext cx="367293" cy="402335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475876" y="4462272"/>
            <a:ext cx="824493" cy="182880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404040"/>
                </a:solidFill>
                <a:latin typeface="Arial"/>
              </a:rPr>
              <a:t>PyTorch</a:t>
            </a:r>
          </a:p>
        </p:txBody>
      </p:sp>
      <p:pic>
        <p:nvPicPr>
          <p:cNvPr id="79" name="Picture 78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514" y="4158325"/>
            <a:ext cx="905255" cy="16898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080914" y="4462272"/>
            <a:ext cx="1362455" cy="182880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404040"/>
                </a:solidFill>
                <a:latin typeface="Arial"/>
              </a:rPr>
              <a:t>FastAPI</a:t>
            </a:r>
          </a:p>
        </p:txBody>
      </p:sp>
      <p:pic>
        <p:nvPicPr>
          <p:cNvPr id="81" name="Picture 80" descr="re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2514" y="4041648"/>
            <a:ext cx="353362" cy="40233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223914" y="4462272"/>
            <a:ext cx="810562" cy="182880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404040"/>
                </a:solidFill>
                <a:latin typeface="Arial"/>
              </a:rPr>
              <a:t>React</a:t>
            </a:r>
          </a:p>
        </p:txBody>
      </p:sp>
      <p:pic>
        <p:nvPicPr>
          <p:cNvPr id="83" name="Picture 82" descr="doc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3621" y="4041648"/>
            <a:ext cx="421735" cy="402335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815021" y="4462272"/>
            <a:ext cx="878935" cy="182880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404040"/>
                </a:solidFill>
                <a:latin typeface="Arial"/>
              </a:rPr>
              <a:t>Docker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452360" y="4846320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80" b="1" i="0">
                <a:solidFill>
                  <a:srgbClr val="172B4D"/>
                </a:solidFill>
                <a:latin typeface="Arial"/>
              </a:rPr>
              <a:t>strongSwan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75320" y="484632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80" b="1" i="0">
                <a:solidFill>
                  <a:srgbClr val="172B4D"/>
                </a:solidFill>
                <a:latin typeface="Arial"/>
              </a:rPr>
              <a:t>Libreswan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43416" y="484632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80" b="1" i="0">
                <a:solidFill>
                  <a:srgbClr val="172B4D"/>
                </a:solidFill>
                <a:latin typeface="Arial"/>
              </a:rPr>
              <a:t>tshark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646920" y="484632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80" b="1" i="0">
                <a:solidFill>
                  <a:srgbClr val="172B4D"/>
                </a:solidFill>
                <a:latin typeface="Arial"/>
              </a:rPr>
              <a:t>LightGBM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360152" y="4846320"/>
            <a:ext cx="115214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80" b="1" i="0">
                <a:solidFill>
                  <a:srgbClr val="172B4D"/>
                </a:solidFill>
                <a:latin typeface="Arial"/>
              </a:rPr>
              <a:t>Streamlit → React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480" y="5349240"/>
            <a:ext cx="1138428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521207" y="5239512"/>
            <a:ext cx="1536192" cy="25603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WHAT WORKS TODAY</a:t>
            </a:r>
          </a:p>
        </p:txBody>
      </p:sp>
      <p:sp>
        <p:nvSpPr>
          <p:cNvPr id="92" name="Oval 91"/>
          <p:cNvSpPr/>
          <p:nvPr/>
        </p:nvSpPr>
        <p:spPr>
          <a:xfrm>
            <a:off x="548640" y="5605272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120" y="5504688"/>
            <a:ext cx="2331720" cy="56692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Testbed generator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lab with 200+ tunnel setups · recordings + keys</a:t>
            </a:r>
          </a:p>
        </p:txBody>
      </p:sp>
      <p:sp>
        <p:nvSpPr>
          <p:cNvPr id="94" name="Oval 93"/>
          <p:cNvSpPr/>
          <p:nvPr/>
        </p:nvSpPr>
        <p:spPr>
          <a:xfrm>
            <a:off x="3383280" y="5605272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94760" y="5504688"/>
            <a:ext cx="2331720" cy="56692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ESP size analyzer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finds the cipher without keys (measured — slide 6)</a:t>
            </a:r>
          </a:p>
        </p:txBody>
      </p:sp>
      <p:sp>
        <p:nvSpPr>
          <p:cNvPr id="96" name="Oval 95"/>
          <p:cNvSpPr/>
          <p:nvPr/>
        </p:nvSpPr>
        <p:spPr>
          <a:xfrm>
            <a:off x="6217920" y="560527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6372636" y="5671108"/>
            <a:ext cx="19751" cy="10533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6372636" y="5759988"/>
            <a:ext cx="92171" cy="19751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629400" y="5504688"/>
            <a:ext cx="2331720" cy="56692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IKE parser + 25 core checks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first security score (command line)</a:t>
            </a:r>
          </a:p>
        </p:txBody>
      </p:sp>
      <p:sp>
        <p:nvSpPr>
          <p:cNvPr id="100" name="Oval 99"/>
          <p:cNvSpPr/>
          <p:nvPr/>
        </p:nvSpPr>
        <p:spPr>
          <a:xfrm>
            <a:off x="9052560" y="560527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207276" y="5671108"/>
            <a:ext cx="19751" cy="10533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207276" y="5759988"/>
            <a:ext cx="92171" cy="19751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9464040" y="5504688"/>
            <a:ext cx="2331720" cy="56692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Dashboard + PDF report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Streamlit first, React later</a:t>
            </a:r>
          </a:p>
        </p:txBody>
      </p:sp>
      <p:sp>
        <p:nvSpPr>
          <p:cNvPr id="104" name="Oval 103"/>
          <p:cNvSpPr/>
          <p:nvPr/>
        </p:nvSpPr>
        <p:spPr>
          <a:xfrm>
            <a:off x="9829800" y="598932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94392" y="5952744"/>
            <a:ext cx="54864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616161"/>
                </a:solidFill>
                <a:latin typeface="Arial"/>
              </a:rPr>
              <a:t>working</a:t>
            </a:r>
          </a:p>
        </p:txBody>
      </p:sp>
      <p:sp>
        <p:nvSpPr>
          <p:cNvPr id="106" name="Oval 105"/>
          <p:cNvSpPr/>
          <p:nvPr/>
        </p:nvSpPr>
        <p:spPr>
          <a:xfrm>
            <a:off x="10607040" y="598932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675802" y="6018580"/>
            <a:ext cx="8778" cy="46817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0675802" y="6058082"/>
            <a:ext cx="40965" cy="877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10771632" y="5952744"/>
            <a:ext cx="100584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616161"/>
                </a:solidFill>
                <a:latin typeface="Arial"/>
              </a:rPr>
              <a:t>in progress (Oct)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1371600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7030A0"/>
                </a:solidFill>
                <a:latin typeface="Arial"/>
              </a:rPr>
              <a:t>Sudo Spandr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82880"/>
            <a:ext cx="8229600" cy="67665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72B4D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6224" y="850392"/>
            <a:ext cx="12801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37360" y="914400"/>
            <a:ext cx="8229600" cy="31089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616161"/>
                </a:solidFill>
                <a:latin typeface="Arial"/>
              </a:rPr>
              <a:t>Why it can be built  •  Challenges &amp; risks  •  How we handle them</a:t>
            </a:r>
          </a:p>
        </p:txBody>
      </p:sp>
      <p:pic>
        <p:nvPicPr>
          <p:cNvPr id="6" name="Picture 5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91440"/>
            <a:ext cx="2103120" cy="9942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19088"/>
            <a:ext cx="411480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SUDO SPANDR  •  TEAM ID 151087  •  PS SIH26160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19088"/>
            <a:ext cx="4876495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1783080" cy="256032"/>
          </a:xfrm>
          <a:prstGeom prst="roundRect">
            <a:avLst>
              <a:gd name="adj" fmla="val 12000"/>
            </a:avLst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WHY IT CAN BE 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45920"/>
            <a:ext cx="1810512" cy="14630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86460" y="1773936"/>
            <a:ext cx="146304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7395" y="1773936"/>
            <a:ext cx="146304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15721" y="1839772"/>
            <a:ext cx="8778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15721" y="1890979"/>
            <a:ext cx="8778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76656" y="1839772"/>
            <a:ext cx="8778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76656" y="1890979"/>
            <a:ext cx="8778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1719072"/>
            <a:ext cx="1280160" cy="40233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4E79"/>
                </a:solidFill>
                <a:latin typeface="Arial"/>
              </a:rPr>
              <a:t>OPEN TOOLS &amp; STANDARDS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157984"/>
            <a:ext cx="1682496" cy="932688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Every PS setting can be built with free tools (strongSwan / Libreswan). Checks follow RFC 8221 / 8247 / 9395, NIST SP 800-77r1 and CNSA 2.0.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1645920"/>
            <a:ext cx="1810512" cy="14630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2" name="Merge 21"/>
          <p:cNvSpPr/>
          <p:nvPr/>
        </p:nvSpPr>
        <p:spPr>
          <a:xfrm>
            <a:off x="2414016" y="1847088"/>
            <a:ext cx="292608" cy="256031"/>
          </a:xfrm>
          <a:prstGeom prst="flowChartMerg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531059" y="1737360"/>
            <a:ext cx="58521" cy="146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88920" y="1719072"/>
            <a:ext cx="1280160" cy="40233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2E7D32"/>
                </a:solidFill>
                <a:latin typeface="Arial"/>
              </a:rPr>
              <a:t>OUR OWN LAB = ANSWER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2157984"/>
            <a:ext cx="1682496" cy="932688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For 200+ tunnel setups we keep the traffic, the keys and the decrypted copy — so the AI is trained and tested on known answers.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1645920"/>
            <a:ext cx="1810512" cy="14630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7" name="Oval 26"/>
          <p:cNvSpPr/>
          <p:nvPr/>
        </p:nvSpPr>
        <p:spPr>
          <a:xfrm>
            <a:off x="4297680" y="1737360"/>
            <a:ext cx="153619" cy="153619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498848" y="1737360"/>
            <a:ext cx="153619" cy="153619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297680" y="1938528"/>
            <a:ext cx="153619" cy="153619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498848" y="1938528"/>
            <a:ext cx="153619" cy="153619"/>
          </a:xfrm>
          <a:prstGeom prst="ellipse">
            <a:avLst/>
          </a:prstGeom>
          <a:solidFill>
            <a:srgbClr val="61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09160" y="1719072"/>
            <a:ext cx="1280160" cy="40233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F6C00"/>
                </a:solidFill>
                <a:latin typeface="Arial"/>
              </a:rPr>
              <a:t>AI ONLY WHERE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2157984"/>
            <a:ext cx="1682496" cy="932688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Open fields are read directly. AI is used only for hidden fields, with a confidence %. Low confidence → 'Unknown'.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246120"/>
            <a:ext cx="2788920" cy="14630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65760" y="3291839"/>
            <a:ext cx="278892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72B4D"/>
                </a:solidFill>
                <a:latin typeface="Arial"/>
              </a:rPr>
              <a:t>OUR LAB  (Linux namespaces / VMs)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" y="36301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161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616161"/>
                </a:solidFill>
                <a:latin typeface="Arial"/>
              </a:rPr>
              <a:t>PC 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3630168"/>
            <a:ext cx="45720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F4E79"/>
                </a:solidFill>
                <a:latin typeface="Arial"/>
              </a:rPr>
              <a:t>GW 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21991" y="3630168"/>
            <a:ext cx="45720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F4E79"/>
                </a:solidFill>
                <a:latin typeface="Arial"/>
              </a:rPr>
              <a:t>GW 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34056" y="36301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161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616161"/>
                </a:solidFill>
                <a:latin typeface="Arial"/>
              </a:rPr>
              <a:t>PC 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" y="3810761"/>
            <a:ext cx="54864" cy="22860"/>
          </a:xfrm>
          <a:prstGeom prst="rect">
            <a:avLst/>
          </a:prstGeom>
          <a:solidFill>
            <a:srgbClr val="61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679191" y="3810761"/>
            <a:ext cx="54864" cy="22860"/>
          </a:xfrm>
          <a:prstGeom prst="rect">
            <a:avLst/>
          </a:prstGeom>
          <a:solidFill>
            <a:srgbClr val="61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1325880" y="3685031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1481328" y="3703319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3" name="Block Arc 42"/>
          <p:cNvSpPr/>
          <p:nvPr/>
        </p:nvSpPr>
        <p:spPr>
          <a:xfrm>
            <a:off x="1566367" y="3739895"/>
            <a:ext cx="76809" cy="82296"/>
          </a:xfrm>
          <a:prstGeom prst="blockArc">
            <a:avLst>
              <a:gd name="adj1" fmla="val 10800000"/>
              <a:gd name="adj2" fmla="val 0"/>
              <a:gd name="adj3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1547164" y="3794759"/>
            <a:ext cx="115214" cy="82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593799" y="3819448"/>
            <a:ext cx="21945" cy="2194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1801368" y="3703319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7" name="Block Arc 46"/>
          <p:cNvSpPr/>
          <p:nvPr/>
        </p:nvSpPr>
        <p:spPr>
          <a:xfrm>
            <a:off x="1886407" y="3739895"/>
            <a:ext cx="76809" cy="82296"/>
          </a:xfrm>
          <a:prstGeom prst="blockArc">
            <a:avLst>
              <a:gd name="adj1" fmla="val 10800000"/>
              <a:gd name="adj2" fmla="val 0"/>
              <a:gd name="adj3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1867204" y="3794759"/>
            <a:ext cx="115214" cy="82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1913839" y="3819448"/>
            <a:ext cx="21945" cy="2194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1696211" y="4005071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1" name="Oval 50"/>
          <p:cNvSpPr/>
          <p:nvPr/>
        </p:nvSpPr>
        <p:spPr>
          <a:xfrm>
            <a:off x="1734616" y="4043476"/>
            <a:ext cx="51206" cy="5120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65760" y="4142231"/>
            <a:ext cx="278892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30" b="1" i="0">
                <a:solidFill>
                  <a:srgbClr val="C62828"/>
                </a:solidFill>
                <a:latin typeface="Arial"/>
              </a:rPr>
              <a:t>capture point → traffic + keys + decrypted copy (answer key)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416552"/>
            <a:ext cx="278892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30" b="0" i="0">
                <a:solidFill>
                  <a:srgbClr val="404040"/>
                </a:solidFill>
                <a:latin typeface="Arial"/>
              </a:rPr>
              <a:t>200+ tunnel setups  ×  8 traffic types (VoIP, WhatsApp, e-mail, web, ICMP, video…)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83280" y="3200400"/>
            <a:ext cx="2276856" cy="2560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HOW EACH FIELD IS DECIDED</a:t>
            </a:r>
          </a:p>
        </p:txBody>
      </p:sp>
      <p:sp>
        <p:nvSpPr>
          <p:cNvPr id="55" name="Diamond 54"/>
          <p:cNvSpPr/>
          <p:nvPr/>
        </p:nvSpPr>
        <p:spPr>
          <a:xfrm>
            <a:off x="3383280" y="3529584"/>
            <a:ext cx="1783080" cy="658368"/>
          </a:xfrm>
          <a:prstGeom prst="diamond">
            <a:avLst/>
          </a:prstGeom>
          <a:solidFill>
            <a:srgbClr val="FFF3E0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584448" y="3529584"/>
            <a:ext cx="1380744" cy="65836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Is the field open in IKE?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5184648" y="3776472"/>
            <a:ext cx="164592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93208" y="3602736"/>
            <a:ext cx="36576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67528" y="3712463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2E7D32"/>
                </a:solidFill>
                <a:latin typeface="Arial"/>
              </a:rPr>
              <a:t>OBSERVED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4183380" y="4206240"/>
            <a:ext cx="182880" cy="182880"/>
          </a:xfrm>
          <a:prstGeom prst="downArrow">
            <a:avLst/>
          </a:prstGeom>
          <a:solidFill>
            <a:srgbClr val="61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4548" y="4187952"/>
            <a:ext cx="27432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616161"/>
                </a:solidFill>
                <a:latin typeface="Arial"/>
              </a:rPr>
              <a:t>no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20440" y="4407408"/>
            <a:ext cx="1508760" cy="36576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95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7030A0"/>
                </a:solidFill>
                <a:latin typeface="Arial"/>
              </a:rPr>
              <a:t>AI on packet sizes &amp; timing</a:t>
            </a:r>
          </a:p>
        </p:txBody>
      </p:sp>
      <p:sp>
        <p:nvSpPr>
          <p:cNvPr id="63" name="Down Arrow 62"/>
          <p:cNvSpPr/>
          <p:nvPr/>
        </p:nvSpPr>
        <p:spPr>
          <a:xfrm>
            <a:off x="4183380" y="4791456"/>
            <a:ext cx="182880" cy="146304"/>
          </a:xfrm>
          <a:prstGeom prst="downArrow">
            <a:avLst/>
          </a:prstGeom>
          <a:solidFill>
            <a:srgbClr val="61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3383280" y="4956048"/>
            <a:ext cx="1783080" cy="603504"/>
          </a:xfrm>
          <a:prstGeom prst="diamond">
            <a:avLst/>
          </a:prstGeom>
          <a:solidFill>
            <a:srgbClr val="FFF3E0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584448" y="4956048"/>
            <a:ext cx="1380744" cy="6035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confidence high enough?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184648" y="5175504"/>
            <a:ext cx="164592" cy="164592"/>
          </a:xfrm>
          <a:prstGeom prst="rightArrow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93208" y="5001768"/>
            <a:ext cx="36576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EF6C00"/>
                </a:solidFill>
                <a:latin typeface="Arial"/>
              </a:rPr>
              <a:t>yes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67528" y="5111496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EF6C00"/>
                </a:solidFill>
                <a:latin typeface="Arial"/>
              </a:rPr>
              <a:t>INFERRED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9240" y="5394960"/>
            <a:ext cx="713232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650" b="0" i="0">
                <a:solidFill>
                  <a:srgbClr val="EF6C00"/>
                </a:solidFill>
                <a:latin typeface="Arial"/>
              </a:rPr>
              <a:t>+ confidence %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4183380" y="5577840"/>
            <a:ext cx="182880" cy="146304"/>
          </a:xfrm>
          <a:prstGeom prst="downArrow">
            <a:avLst/>
          </a:prstGeom>
          <a:solidFill>
            <a:srgbClr val="61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4548" y="5559552"/>
            <a:ext cx="274320" cy="219456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616161"/>
                </a:solidFill>
                <a:latin typeface="Arial"/>
              </a:rPr>
              <a:t>no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91840" y="576072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6161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80" b="1" i="0">
                <a:solidFill>
                  <a:srgbClr val="616161"/>
                </a:solidFill>
                <a:latin typeface="Arial"/>
              </a:rPr>
              <a:t>UNKNOWN + tip: capture longer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" y="4892040"/>
            <a:ext cx="502920" cy="329184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OCT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4892040"/>
            <a:ext cx="2286000" cy="329184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parser · 25 checks · first score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" y="5294376"/>
            <a:ext cx="502920" cy="329184"/>
          </a:xfrm>
          <a:prstGeom prst="roundRect">
            <a:avLst>
              <a:gd name="adj" fmla="val 8000"/>
            </a:avLst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NOV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5294376"/>
            <a:ext cx="2286000" cy="329184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traffic-type AI · dashboard · dataset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5696712"/>
            <a:ext cx="502920" cy="32918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DEC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5696712"/>
            <a:ext cx="2286000" cy="329184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404040"/>
                </a:solidFill>
                <a:latin typeface="Arial"/>
              </a:rPr>
              <a:t>polish · demo video · finale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09360" y="1325880"/>
            <a:ext cx="2935224" cy="256032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CHALLENGES  →  HOW WE HANDLE THEM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6309360" y="1645920"/>
          <a:ext cx="5532120" cy="29992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48840"/>
                <a:gridCol w="33832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Challenge / risk</a:t>
                      </a:r>
                    </a:p>
                  </a:txBody>
                  <a:tcPr marL="45720" marT="27432" marR="45720" marB="27432" anchor="ctr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Our answer</a:t>
                      </a:r>
                    </a:p>
                  </a:txBody>
                  <a:tcPr marL="45720" marT="27432" marR="45720" marB="27432" anchor="ctr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C62828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AES-128 and AES-256 look the same on the wire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Say 'AES-GCM, key size unknown' unless IKE shows it — never guess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DECE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PFS can be seen only when the tunnel re-keys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Mark 'PFS: Unknown' and tell the user how long to capture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Different vendors pad packets differently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Calibrate per vendor in our lab; lower the confidence if patterns disagree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DECE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AI may be over-confident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Calibrated probabilities; below the threshold → 'Unknown'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TLS / QUIC inside the tunnel hides the app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Report 'encrypted web' with lower confidence — no over-claiming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DECE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Lab has only strongSwan / Libreswan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Add Cisco / Fortinet / Windows captures in Nov; unknown vendor → 'Unknown'</a:t>
                      </a:r>
                    </a:p>
                  </a:txBody>
                  <a:tcPr marL="45720" marT="27432" marR="45720" marB="27432" anchor="t">
                    <a:lnL w="9525">
                      <a:solidFill>
                        <a:srgbClr val="9DC3E6"/>
                      </a:solidFill>
                    </a:lnL>
                    <a:lnR w="9525">
                      <a:solidFill>
                        <a:srgbClr val="9DC3E6"/>
                      </a:solidFill>
                    </a:lnR>
                    <a:lnT w="9525">
                      <a:solidFill>
                        <a:srgbClr val="9DC3E6"/>
                      </a:solidFill>
                    </a:lnT>
                    <a:lnB w="9525">
                      <a:solidFill>
                        <a:srgbClr val="9DC3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" name="Rounded Rectangle 80"/>
          <p:cNvSpPr/>
          <p:nvPr/>
        </p:nvSpPr>
        <p:spPr>
          <a:xfrm>
            <a:off x="6309360" y="4892040"/>
            <a:ext cx="960119" cy="2560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STANDARDS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60920" y="4892040"/>
            <a:ext cx="67299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RFC 8221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97926" y="4892040"/>
            <a:ext cx="67299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RFC 8247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834932" y="4892040"/>
            <a:ext cx="67299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RFC 9395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71939" y="4892040"/>
            <a:ext cx="84307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NIST 800-77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479024" y="4892040"/>
            <a:ext cx="67299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CNSA 2.0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09360" y="530352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8" name="Oval 87"/>
          <p:cNvSpPr/>
          <p:nvPr/>
        </p:nvSpPr>
        <p:spPr>
          <a:xfrm>
            <a:off x="6446520" y="557784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₹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03720" y="5349240"/>
            <a:ext cx="4846320" cy="82296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2E7D32"/>
                </a:solidFill>
                <a:latin typeface="Arial"/>
              </a:rPr>
              <a:t>Low cost, easy to scale:  </a:t>
            </a:r>
            <a:r>
              <a:rPr sz="930" b="0" i="0">
                <a:solidFill>
                  <a:srgbClr val="404040"/>
                </a:solidFill>
                <a:latin typeface="Arial"/>
              </a:rPr>
              <a:t>runs on a normal laptop or a SOC server, 100 % open-source, works offline, no vendor lock-in. New ciphers or vendors are added as simple YAML rules, not code. The checks list and the dataset will be published.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1371600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7030A0"/>
                </a:solidFill>
                <a:latin typeface="Arial"/>
              </a:rPr>
              <a:t>Sudo Spandr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82880"/>
            <a:ext cx="8229600" cy="67665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72B4D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6224" y="850392"/>
            <a:ext cx="12801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37360" y="914400"/>
            <a:ext cx="8229600" cy="31089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616161"/>
                </a:solidFill>
                <a:latin typeface="Arial"/>
              </a:rPr>
              <a:t>Who gains from it  •  Benefits — security, cost, strategy</a:t>
            </a:r>
          </a:p>
        </p:txBody>
      </p:sp>
      <p:pic>
        <p:nvPicPr>
          <p:cNvPr id="6" name="Picture 5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91440"/>
            <a:ext cx="2103120" cy="9942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19088"/>
            <a:ext cx="411480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SUDO SPANDR  •  TEAM ID 151087  •  PS SIH26160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19088"/>
            <a:ext cx="4876495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29260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65760" y="1325880"/>
            <a:ext cx="2926080" cy="329184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65760" y="1490472"/>
            <a:ext cx="2926080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5760" y="1325880"/>
            <a:ext cx="2926080" cy="329184"/>
          </a:xfrm>
          <a:prstGeom prst="rect">
            <a:avLst/>
          </a:prstGeom>
          <a:noFill/>
        </p:spPr>
        <p:txBody>
          <a:bodyPr wrap="square" anchor="ctr" lIns="45720" tIns="0" rIns="4572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SAMPLE RESULT  •  lab tunnel #37</a:t>
            </a:r>
          </a:p>
        </p:txBody>
      </p:sp>
      <p:sp>
        <p:nvSpPr>
          <p:cNvPr id="15" name="Block Arc 14"/>
          <p:cNvSpPr/>
          <p:nvPr/>
        </p:nvSpPr>
        <p:spPr>
          <a:xfrm>
            <a:off x="548640" y="1845259"/>
            <a:ext cx="777240" cy="777240"/>
          </a:xfrm>
          <a:prstGeom prst="blockArc">
            <a:avLst>
              <a:gd name="adj1" fmla="val 10800000"/>
              <a:gd name="adj2" fmla="val 0"/>
              <a:gd name="adj3" fmla="val 3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 rot="18000000">
            <a:off x="772589" y="1989048"/>
            <a:ext cx="46634" cy="32644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82853" y="2179472"/>
            <a:ext cx="108813" cy="108813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17319" y="1709928"/>
            <a:ext cx="178308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C62828"/>
                </a:solidFill>
                <a:latin typeface="Arial"/>
              </a:rPr>
              <a:t>45</a:t>
            </a:r>
            <a:r>
              <a:rPr sz="1100" b="1" i="0">
                <a:solidFill>
                  <a:srgbClr val="404040"/>
                </a:solidFill>
                <a:latin typeface="Arial"/>
              </a:rPr>
              <a:t> / 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228600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C62828"/>
                </a:solidFill>
                <a:latin typeface="Arial"/>
              </a:rPr>
              <a:t>Grade D — weak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2779776"/>
            <a:ext cx="128016" cy="1280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2697480"/>
            <a:ext cx="2468880" cy="29260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IKEv1 aggressive mode — deprecated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3090672"/>
            <a:ext cx="128016" cy="1280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3008376"/>
            <a:ext cx="2468880" cy="29260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DH group 2 (1024-bit) — breakable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401568"/>
            <a:ext cx="128016" cy="1280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3319272"/>
            <a:ext cx="2468880" cy="29260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PFS — not seen yet (Unknown)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3712463"/>
            <a:ext cx="128016" cy="1280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3630168"/>
            <a:ext cx="2468880" cy="29260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AES-CBC + HMAC-SHA2-256 — 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995927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AI confidence 0.91   •   3 fixes suggested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1325880"/>
            <a:ext cx="1207008" cy="256032"/>
          </a:xfrm>
          <a:prstGeom prst="roundRect">
            <a:avLst>
              <a:gd name="adj" fmla="val 12000"/>
            </a:avLst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WHO BENEFITS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1664208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1" name="Off-page Connector 30"/>
          <p:cNvSpPr/>
          <p:nvPr/>
        </p:nvSpPr>
        <p:spPr>
          <a:xfrm>
            <a:off x="3648456" y="1801368"/>
            <a:ext cx="292608" cy="365760"/>
          </a:xfrm>
          <a:prstGeom prst="flowChartOffpageConnector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087368" y="1664208"/>
            <a:ext cx="3429000" cy="64008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NTRO / CERT-In &amp; auditors — </a:t>
            </a:r>
            <a:r>
              <a:rPr sz="950" b="0" i="0">
                <a:solidFill>
                  <a:srgbClr val="404040"/>
                </a:solidFill>
                <a:latin typeface="Arial"/>
              </a:rPr>
              <a:t>check any VPN from a traffic recording; no vendor login needed.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237744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648456" y="2514600"/>
            <a:ext cx="292608" cy="102412"/>
          </a:xfrm>
          <a:prstGeom prst="round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3875227" y="2551176"/>
            <a:ext cx="32918" cy="3291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648456" y="2638958"/>
            <a:ext cx="292608" cy="102412"/>
          </a:xfrm>
          <a:prstGeom prst="round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3875227" y="2675534"/>
            <a:ext cx="32918" cy="3291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648456" y="2763316"/>
            <a:ext cx="292608" cy="102412"/>
          </a:xfrm>
          <a:prstGeom prst="round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875227" y="2799892"/>
            <a:ext cx="32918" cy="3291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087368" y="2377440"/>
            <a:ext cx="3429000" cy="64008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F5FA6"/>
                </a:solidFill>
                <a:latin typeface="Arial"/>
              </a:rPr>
              <a:t>Power, banking, telecom, defence SOCs — </a:t>
            </a:r>
            <a:r>
              <a:rPr sz="950" b="0" i="0">
                <a:solidFill>
                  <a:srgbClr val="404040"/>
                </a:solidFill>
                <a:latin typeface="Arial"/>
              </a:rPr>
              <a:t>watch the crypto health of every tunnel, all the time.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20440" y="3090672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2" name="Folded Corner 41"/>
          <p:cNvSpPr/>
          <p:nvPr/>
        </p:nvSpPr>
        <p:spPr>
          <a:xfrm>
            <a:off x="3655771" y="3227832"/>
            <a:ext cx="277977" cy="36576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706977" y="3337560"/>
            <a:ext cx="175564" cy="2194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706977" y="3403396"/>
            <a:ext cx="138988" cy="2194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706977" y="3469233"/>
            <a:ext cx="102412" cy="2194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087368" y="3090672"/>
            <a:ext cx="3429000" cy="64008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E7D32"/>
                </a:solidFill>
                <a:latin typeface="Arial"/>
              </a:rPr>
              <a:t>Compliance teams — </a:t>
            </a:r>
            <a:r>
              <a:rPr sz="950" b="0" i="0">
                <a:solidFill>
                  <a:srgbClr val="404040"/>
                </a:solidFill>
                <a:latin typeface="Arial"/>
              </a:rPr>
              <a:t>a clear list of gaps vs RFC / NIST / CNSA, with what to fix first.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0440" y="3803904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48" name="Oval 47"/>
          <p:cNvSpPr/>
          <p:nvPr/>
        </p:nvSpPr>
        <p:spPr>
          <a:xfrm>
            <a:off x="3721608" y="3941064"/>
            <a:ext cx="146304" cy="146304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 Same Side Corner Rectangle 48"/>
          <p:cNvSpPr/>
          <p:nvPr/>
        </p:nvSpPr>
        <p:spPr>
          <a:xfrm>
            <a:off x="3648456" y="4109313"/>
            <a:ext cx="292608" cy="197510"/>
          </a:xfrm>
          <a:prstGeom prst="round2Same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087368" y="3803904"/>
            <a:ext cx="3429000" cy="64008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7030A0"/>
                </a:solidFill>
                <a:latin typeface="Arial"/>
              </a:rPr>
              <a:t>Investigators &amp; researchers — </a:t>
            </a:r>
            <a:r>
              <a:rPr sz="950" b="0" i="0">
                <a:solidFill>
                  <a:srgbClr val="404040"/>
                </a:solidFill>
                <a:latin typeface="Arial"/>
              </a:rPr>
              <a:t>learn what kind of traffic a tunnel carries + an open dataset.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1325880"/>
            <a:ext cx="877824" cy="25603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1664208"/>
            <a:ext cx="1965960" cy="13258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3" name="Block Arc 52"/>
          <p:cNvSpPr/>
          <p:nvPr/>
        </p:nvSpPr>
        <p:spPr>
          <a:xfrm>
            <a:off x="7981980" y="1755648"/>
            <a:ext cx="184343" cy="197510"/>
          </a:xfrm>
          <a:prstGeom prst="blockArc">
            <a:avLst>
              <a:gd name="adj1" fmla="val 10800000"/>
              <a:gd name="adj2" fmla="val 0"/>
              <a:gd name="adj3" fmla="val 2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7935894" y="1887321"/>
            <a:ext cx="276514" cy="19751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8047817" y="1946574"/>
            <a:ext cx="52669" cy="5266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75320" y="1737360"/>
            <a:ext cx="1463040" cy="36576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62828"/>
                </a:solidFill>
                <a:latin typeface="Arial"/>
              </a:rPr>
              <a:t>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91272" y="2121408"/>
            <a:ext cx="1828800" cy="8412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Weak tunnels (IKEv1, DES / 3DES, 1024-bit DH, no PFS) are found — with a score and a fix list.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75520" y="1664208"/>
            <a:ext cx="1965960" cy="13258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9" name="Oval 58"/>
          <p:cNvSpPr/>
          <p:nvPr/>
        </p:nvSpPr>
        <p:spPr>
          <a:xfrm>
            <a:off x="9966960" y="1755648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8" b="1">
                <a:solidFill>
                  <a:srgbClr val="FFFFFF"/>
                </a:solidFill>
                <a:latin typeface="Arial"/>
              </a:rPr>
              <a:t>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1737360"/>
            <a:ext cx="1463040" cy="36576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E7D32"/>
                </a:solidFill>
                <a:latin typeface="Arial"/>
              </a:rPr>
              <a:t>COST &amp; 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48672" y="2121408"/>
            <a:ext cx="1828800" cy="8412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Hours of manual checking → minutes per tunnel. Nothing to install, no downtime, free tools.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18120" y="3081528"/>
            <a:ext cx="1965960" cy="13258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63" name="Lightning Bolt 62"/>
          <p:cNvSpPr/>
          <p:nvPr/>
        </p:nvSpPr>
        <p:spPr>
          <a:xfrm>
            <a:off x="7958937" y="3172968"/>
            <a:ext cx="230428" cy="329184"/>
          </a:xfrm>
          <a:prstGeom prst="lightningBol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275320" y="3154680"/>
            <a:ext cx="1463040" cy="36576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F6C00"/>
                </a:solidFill>
                <a:latin typeface="Arial"/>
              </a:rPr>
              <a:t>FUTURE-READY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2" y="3538728"/>
            <a:ext cx="1828800" cy="8412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Shows if a tunnel is ready for post-quantum crypto (ML-KEM) — against 'store now, break later'.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75520" y="3081528"/>
            <a:ext cx="1965960" cy="13258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67" name="Oval 66"/>
          <p:cNvSpPr/>
          <p:nvPr/>
        </p:nvSpPr>
        <p:spPr>
          <a:xfrm>
            <a:off x="9966960" y="317296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2720" y="3154680"/>
            <a:ext cx="1463040" cy="365760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MADE IN INDIA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48672" y="3538728"/>
            <a:ext cx="1828800" cy="841248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Arial"/>
              </a:rPr>
              <a:t>An Indian, vendor-neutral tool for national and critical networks.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" y="461772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65760" y="4645152"/>
            <a:ext cx="1828800" cy="82296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days → minutes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404040"/>
                </a:solidFill>
                <a:latin typeface="Arial"/>
              </a:rPr>
              <a:t>time to audit one tunnel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286000" y="461772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2286000" y="4645152"/>
            <a:ext cx="1828800" cy="82296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2E7D32"/>
                </a:solidFill>
                <a:latin typeface="Arial"/>
              </a:rPr>
              <a:t>0 keys · 0 agents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404040"/>
                </a:solidFill>
                <a:latin typeface="Arial"/>
              </a:rPr>
              <a:t>nothing to install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06240" y="461772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206240" y="4645152"/>
            <a:ext cx="1828800" cy="82296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7030A0"/>
                </a:solidFill>
                <a:latin typeface="Arial"/>
              </a:rPr>
              <a:t>66 checks · 12 threats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404040"/>
                </a:solidFill>
                <a:latin typeface="Arial"/>
              </a:rPr>
              <a:t>score 0–100 · grade A+ → F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72200" y="4617720"/>
            <a:ext cx="5669280" cy="86868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6281928" y="4507992"/>
            <a:ext cx="1371600" cy="256032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4773168"/>
            <a:ext cx="5486400" cy="694944"/>
          </a:xfrm>
          <a:prstGeom prst="rect">
            <a:avLst/>
          </a:prstGeom>
          <a:noFill/>
        </p:spPr>
        <p:txBody>
          <a:bodyPr wrap="square" anchor="t" lIns="36576" tIns="18288" rIns="36576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200"/>
              </a:spcAft>
              <a:buClr>
                <a:srgbClr val="C62828"/>
              </a:buClr>
              <a:buFont typeface="Arial"/>
              <a:buChar char="•"/>
            </a:pPr>
            <a:r>
              <a:rPr sz="880" b="1" i="0">
                <a:solidFill>
                  <a:srgbClr val="172B4D"/>
                </a:solidFill>
                <a:latin typeface="Arial"/>
              </a:rPr>
              <a:t>Logjam (2015): </a:t>
            </a:r>
            <a:r>
              <a:rPr sz="880" b="0" i="0">
                <a:solidFill>
                  <a:srgbClr val="404040"/>
                </a:solidFill>
                <a:latin typeface="Arial"/>
              </a:rPr>
              <a:t>pre-computing a single 1024-bit prime decrypts 18% of HTTPS; a second prime breaks ~66% of IPsec VPNs.</a:t>
            </a:r>
          </a:p>
          <a:p>
            <a:pPr algn="l" marL="146304" indent="-146304">
              <a:lnSpc>
                <a:spcPct val="100000"/>
              </a:lnSpc>
              <a:spcAft>
                <a:spcPts val="200"/>
              </a:spcAft>
              <a:buClr>
                <a:srgbClr val="C62828"/>
              </a:buClr>
              <a:buFont typeface="Arial"/>
              <a:buChar char="•"/>
            </a:pPr>
            <a:r>
              <a:rPr sz="880" b="1" i="0">
                <a:solidFill>
                  <a:srgbClr val="172B4D"/>
                </a:solidFill>
                <a:latin typeface="Arial"/>
              </a:rPr>
              <a:t>IKEv1 deprecated (RFC 9395, Apr 2023) — </a:t>
            </a:r>
            <a:r>
              <a:rPr sz="880" b="0" i="0">
                <a:solidFill>
                  <a:srgbClr val="404040"/>
                </a:solidFill>
                <a:latin typeface="Arial"/>
              </a:rPr>
              <a:t>old tunnels still run; non-PQC captures recorded today can be broken in future.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5623560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7200" y="5623560"/>
            <a:ext cx="5486400" cy="56692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C62828"/>
                </a:solidFill>
                <a:latin typeface="Arial"/>
              </a:rPr>
              <a:t>✕  Manual check today:  </a:t>
            </a:r>
            <a:r>
              <a:rPr sz="930" b="0" i="0">
                <a:solidFill>
                  <a:srgbClr val="404040"/>
                </a:solidFill>
                <a:latin typeface="Arial"/>
              </a:rPr>
              <a:t>config files and vendor logins — trusts what is written, not what really runs.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200" y="5623560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6263640" y="5623560"/>
            <a:ext cx="5486400" cy="566928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2E7D32"/>
                </a:solidFill>
                <a:latin typeface="Arial"/>
              </a:rPr>
              <a:t>✓  IPsec X-Ray:  </a:t>
            </a:r>
            <a:r>
              <a:rPr sz="930" b="0" i="0">
                <a:solidFill>
                  <a:srgbClr val="404040"/>
                </a:solidFill>
                <a:latin typeface="Arial"/>
              </a:rPr>
              <a:t>looks at the real traffic — what was really negotiated, what is weak, and how sure we 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1371600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7030A0"/>
                </a:solidFill>
                <a:latin typeface="Arial"/>
              </a:rPr>
              <a:t>Sudo Spandr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82880"/>
            <a:ext cx="8229600" cy="67665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72B4D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6224" y="850392"/>
            <a:ext cx="12801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37360" y="914400"/>
            <a:ext cx="8229600" cy="310896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616161"/>
                </a:solidFill>
                <a:latin typeface="Arial"/>
              </a:rPr>
              <a:t>Sources and links behind this idea</a:t>
            </a:r>
          </a:p>
        </p:txBody>
      </p:sp>
      <p:pic>
        <p:nvPicPr>
          <p:cNvPr id="6" name="Picture 5" descr="sih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91440"/>
            <a:ext cx="2103120" cy="9942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19088"/>
            <a:ext cx="411480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SUDO SPANDR  •  TEAM ID 151087  •  PS SIH26160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19088"/>
            <a:ext cx="4876495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6949440" cy="4846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1481328"/>
            <a:ext cx="2359152" cy="2560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STANDARDS WE CHECK AGAINST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01368"/>
            <a:ext cx="6675120" cy="1920240"/>
          </a:xfrm>
          <a:prstGeom prst="rect">
            <a:avLst/>
          </a:prstGeom>
          <a:noFill/>
        </p:spPr>
        <p:txBody>
          <a:bodyPr wrap="square" anchor="t" lIns="36576" tIns="9144" rIns="36576" bIns="9144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[1]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RFC 4303 — IP Encapsulating Security Payload (ESP)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3"/>
              </a:rPr>
              <a:t>rfc-editor.org/rfc/rfc4303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[2]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RFC 7296 — Internet Key Exchange Protocol v2 (IKEv2)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4"/>
              </a:rPr>
              <a:t>rfc-editor.org/rfc/rfc7296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[3]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RFC 8221 — Cryptographic algorithm requirements for ESP &amp; AH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5"/>
              </a:rPr>
              <a:t>rfc-editor.org/rfc/rfc8221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[4]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RFC 8247 — Algorithm implementation requirements for IKEv2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6"/>
              </a:rPr>
              <a:t>rfc-editor.org/rfc/rfc8247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[5]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RFC 9395 — Deprecation of IKEv1 and obsoleted algorithms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7"/>
              </a:rPr>
              <a:t>rfc-editor.org/rfc/rfc9395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[6]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NIST SP 800-77 Rev. 1 — Guide to IPsec VPNs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8"/>
              </a:rPr>
              <a:t>csrc.nist.gov/pubs/sp/800/77/r1/final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[7]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NSA CNSA 2.0 — DH 16/20, AES-256, SHA-384, ML-KEM (post-quantum)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9"/>
              </a:rPr>
              <a:t>nsa.gov/Press-Room/Cybersecurity-Advisories-Guidance/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3767328"/>
            <a:ext cx="2029967" cy="256032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RESEARCH, DATA &amp;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87368"/>
            <a:ext cx="6675120" cy="2103120"/>
          </a:xfrm>
          <a:prstGeom prst="rect">
            <a:avLst/>
          </a:prstGeom>
          <a:noFill/>
        </p:spPr>
        <p:txBody>
          <a:bodyPr wrap="square" anchor="t" lIns="36576" tIns="9144" rIns="36576" bIns="9144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[8]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Adrian et al., “Imperfect Forward Secrecy” (Logjam), ACM CCS 2015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10"/>
              </a:rPr>
              <a:t>weakdh.org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[9]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Felsch et al., “The Dangers of Key Reuse: Practical Attacks on IPsec IKE”, USENIX Security 2018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11"/>
              </a:rPr>
              <a:t>usenix.org/conference/usenixsecurity18/presentation/felsch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[10]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Bhargavan &amp; Leurent, Sweet32 — 64-bit block-cipher (3DES) collision attacks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12"/>
              </a:rPr>
              <a:t>sweet32.info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[11]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ISCX VPN-nonVPN 2016 dataset (UNB CIC) — encrypted-traffic classification baseline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13"/>
              </a:rPr>
              <a:t>unb.ca/cic/datasets/vpn.html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[12]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ET-BERT — transformer for encrypted-traffic classification (arXiv 2202.06335)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14"/>
              </a:rPr>
              <a:t>arxiv.org/abs/2202.06335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172B4D"/>
                </a:solidFill>
                <a:latin typeface="Arial"/>
              </a:rPr>
              <a:t>[13]  </a:t>
            </a:r>
            <a:r>
              <a:rPr sz="950" b="0" i="0">
                <a:solidFill>
                  <a:srgbClr val="404040"/>
                </a:solidFill>
                <a:latin typeface="Arial"/>
              </a:rPr>
              <a:t>IETF draft-ietf-ipsecme-ikev2-mlkem + strongSwan 6.0 (ML-KEM in IKEv2) — PQC testbed tunnels  </a:t>
            </a:r>
            <a:r>
              <a:rPr sz="869" b="0" i="0" u="sng">
                <a:solidFill>
                  <a:srgbClr val="0070C0"/>
                </a:solidFill>
                <a:latin typeface="Arial"/>
                <a:hlinkClick r:id="rId15"/>
              </a:rPr>
              <a:t>datatracker.ietf.org/doc/draft-ietf-ipsecme-ikev2-mlkem/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371600"/>
            <a:ext cx="429768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653527" y="1481328"/>
            <a:ext cx="4005072" cy="256032"/>
          </a:xfrm>
          <a:prstGeom prst="roundRect">
            <a:avLst>
              <a:gd name="adj" fmla="val 12000"/>
            </a:avLst>
          </a:prstGeom>
          <a:solidFill>
            <a:srgbClr val="F2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172B4D"/>
                </a:solidFill>
                <a:latin typeface="Arial"/>
              </a:rPr>
              <a:t>WHAT WE WILL DELIVER  •  ALL 7 PS DELIVERABLES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182880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783080"/>
            <a:ext cx="1874519" cy="347472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1. AI-powered Protocol Analyzer</a:t>
            </a:r>
          </a:p>
        </p:txBody>
      </p:sp>
      <p:sp>
        <p:nvSpPr>
          <p:cNvPr id="20" name="Oval 19"/>
          <p:cNvSpPr/>
          <p:nvPr/>
        </p:nvSpPr>
        <p:spPr>
          <a:xfrm>
            <a:off x="9784080" y="182880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1783080"/>
            <a:ext cx="1874519" cy="347472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2. Standards Security Assessor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221284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167128"/>
            <a:ext cx="1874519" cy="347472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3. Testbed Suite (strongSwan)</a:t>
            </a:r>
          </a:p>
        </p:txBody>
      </p:sp>
      <p:sp>
        <p:nvSpPr>
          <p:cNvPr id="24" name="Oval 23"/>
          <p:cNvSpPr/>
          <p:nvPr/>
        </p:nvSpPr>
        <p:spPr>
          <a:xfrm>
            <a:off x="9784080" y="221284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167128"/>
            <a:ext cx="1874519" cy="347472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4. Real-time Live Dashboard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259689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551176"/>
            <a:ext cx="1874519" cy="347472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5. Executive &amp; Technical Reports</a:t>
            </a:r>
          </a:p>
        </p:txBody>
      </p:sp>
      <p:sp>
        <p:nvSpPr>
          <p:cNvPr id="28" name="Oval 27"/>
          <p:cNvSpPr/>
          <p:nvPr/>
        </p:nvSpPr>
        <p:spPr>
          <a:xfrm>
            <a:off x="9784080" y="259689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551176"/>
            <a:ext cx="1874519" cy="347472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6. Ground-Truth PCAP Corpus</a:t>
            </a:r>
          </a:p>
        </p:txBody>
      </p:sp>
      <p:sp>
        <p:nvSpPr>
          <p:cNvPr id="30" name="Oval 29"/>
          <p:cNvSpPr/>
          <p:nvPr/>
        </p:nvSpPr>
        <p:spPr>
          <a:xfrm>
            <a:off x="7635240" y="298094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935224"/>
            <a:ext cx="1874519" cy="347472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rial"/>
              </a:rPr>
              <a:t>7. Threat Matrix &amp; Replay Engine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3474720"/>
            <a:ext cx="4297680" cy="2743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653527" y="3584448"/>
            <a:ext cx="3182111" cy="25603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OUR FIRST RESULT  •  LAB MEASUREMENT</a:t>
            </a:r>
          </a:p>
        </p:txBody>
      </p:sp>
      <p:pic>
        <p:nvPicPr>
          <p:cNvPr id="34" name="Picture 33" descr="fig_residue_v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80960" y="3886200"/>
            <a:ext cx="4023360" cy="18745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35240" y="5806440"/>
            <a:ext cx="4114800" cy="365760"/>
          </a:xfrm>
          <a:prstGeom prst="rect">
            <a:avLst/>
          </a:prstGeom>
          <a:noFill/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80" b="0" i="0">
                <a:solidFill>
                  <a:srgbClr val="616161"/>
                </a:solidFill>
                <a:latin typeface="Arial"/>
              </a:rPr>
              <a:t>ESP length residues separate mode and tag size — basis of the AI inference step (Live: https://sudo-vpn.vercel.app/).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